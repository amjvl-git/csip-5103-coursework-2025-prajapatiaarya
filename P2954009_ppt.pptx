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10972800"/>
  <p:notesSz cx="109728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 Light" panose="020B0604020202020204" charset="0"/>
      <p:regular r:id="rId17"/>
    </p:embeddedFont>
    <p:embeddedFont>
      <p:font typeface="Montserrat Medium" panose="000006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25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42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9195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Neural Network Architectures for Image Classification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509022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Comparative Study on the FashionMNIST Dataset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66997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AARYA PRAJAPATI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731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Student ID: P2954009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17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46383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FashionMNIST dataset, a standard benchmark for image classification, serves as a testbed for comparing fundamental deep learning architectures: the Artificial Neural Network (ANN) and the Convolutional Neural Network (CNN).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0206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fashion item classification task provides a non-trivial, yet manageable, domain for benchmarking model performance.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907167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Our primary question is to quantify the performance gap between fully connected layers (ANN) and convolutional layers (CNN) on pixel data.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707517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comparison will highlight the practical benefits of hierarchical feature extraction inherent to CNNs.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3497461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5659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Objectives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4277201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4447223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5184458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Architectural Benchmarking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602920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Define, implement, and train robust ANN and CNN models optimized for the image data of FashionMNIST.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277201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060" y="4447223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3776" y="518445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Quantify Performance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443776" y="5674876"/>
            <a:ext cx="3742730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Measure and compare key metrics (loss, validation accuracy, test accuracy) to establish a quantitative baseline for both models.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4277201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8232" y="4447223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66948" y="51844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Derive Key Insights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866948" y="567487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Analyze the confusion matrices to understand model failure modes and determine the superior model for visual pattern recognition.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69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Methodology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852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 employed several advanced techniques to ensure the training was stable, efficient, and produced generalizable models.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20" y="3003352"/>
            <a:ext cx="11714440" cy="42406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7850" y="6208858"/>
            <a:ext cx="2934582" cy="36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Training Loop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317850" y="4930685"/>
            <a:ext cx="2934582" cy="36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Model Design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317850" y="3639469"/>
            <a:ext cx="2934582" cy="36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Prep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93790" y="7499151"/>
            <a:ext cx="6407944" cy="2286293"/>
          </a:xfrm>
          <a:prstGeom prst="roundRect">
            <a:avLst>
              <a:gd name="adj" fmla="val 6937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7499152"/>
            <a:ext cx="121920" cy="21089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524" y="7756446"/>
            <a:ext cx="44928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Normalization &amp; Augmentation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142524" y="824686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Applied normalization using dataset-specific mean/std. Employed aggressive training augmentations (rotation, cropping, flipping) to combat overfitting.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428548" y="7499152"/>
            <a:ext cx="6408063" cy="2286292"/>
          </a:xfrm>
          <a:prstGeom prst="roundRect">
            <a:avLst>
              <a:gd name="adj" fmla="val 6937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7499152"/>
            <a:ext cx="121920" cy="21089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7282" y="7756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Regularization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777282" y="8246864"/>
            <a:ext cx="5802035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Incorporated Batch Normalization (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) layers and Dropout (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to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rate) to stabilize training and prevent co-adaptation of neurons.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855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Setup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691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initial 60,000 image dataset was carefully split, and key hyperparameters were fixed for both training experiments.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55714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60K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866418" y="3887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Training 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468654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60,000 images used for training and validation.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057888" y="2855714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10K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130516" y="3887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Test Set Size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057888" y="4468654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10,000 unseen images for final evaluation.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951" y="5449610"/>
            <a:ext cx="5904548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Key Assumptions: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VAL_RATIO = 0.1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(10% of training data for validation),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= 0.001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449610"/>
            <a:ext cx="30480" cy="741045"/>
          </a:xfrm>
          <a:prstGeom prst="rect">
            <a:avLst/>
          </a:prstGeom>
          <a:solidFill>
            <a:srgbClr val="C6C9DC"/>
          </a:solidFill>
          <a:ln/>
        </p:spPr>
      </p:sp>
      <p:sp>
        <p:nvSpPr>
          <p:cNvPr id="12" name="Shape 10"/>
          <p:cNvSpPr/>
          <p:nvPr/>
        </p:nvSpPr>
        <p:spPr>
          <a:xfrm>
            <a:off x="7599521" y="2742367"/>
            <a:ext cx="6244709" cy="2329101"/>
          </a:xfrm>
          <a:prstGeom prst="roundRect">
            <a:avLst>
              <a:gd name="adj" fmla="val 87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7141" y="2749987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7834074" y="2893695"/>
            <a:ext cx="14113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Training Data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06689" y="2893695"/>
            <a:ext cx="7846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90%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952559" y="2893695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60,000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607141" y="3400306"/>
            <a:ext cx="6229469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834074" y="3544014"/>
            <a:ext cx="141136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Validation Data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06689" y="3544014"/>
            <a:ext cx="7846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10%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952559" y="3544014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12,000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607141" y="4413528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834074" y="4557236"/>
            <a:ext cx="141136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Test Data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06689" y="4557236"/>
            <a:ext cx="7846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100%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952559" y="4557236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10,000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99521" y="532661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class distribution across all sets is balanced, representing 10 distinct fashion categories.</a:t>
            </a:r>
            <a:endParaRPr lang="en-US" sz="17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122" y="6846927"/>
            <a:ext cx="4478417" cy="3062168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990" y="6846927"/>
            <a:ext cx="3062168" cy="3062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3269"/>
            <a:ext cx="1026747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Implementation: Code Structure and Models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13873"/>
            <a:ext cx="130428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core implementation involves two distinct PyTorch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classes, optimizing each for its architectural paradigm.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39547"/>
            <a:ext cx="6407944" cy="5551289"/>
          </a:xfrm>
          <a:prstGeom prst="roundRect">
            <a:avLst>
              <a:gd name="adj" fmla="val 367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273981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461028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4181237"/>
            <a:ext cx="513314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FashionANN: Fully Connected</a:t>
            </a:r>
            <a:endParaRPr lang="en-US" sz="2650" dirty="0"/>
          </a:p>
        </p:txBody>
      </p:sp>
      <p:sp>
        <p:nvSpPr>
          <p:cNvPr id="8" name="Text 4"/>
          <p:cNvSpPr/>
          <p:nvPr/>
        </p:nvSpPr>
        <p:spPr>
          <a:xfrm>
            <a:off x="1028224" y="474261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Input Layer: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784 neurons (for 28x28 pixel images).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028224" y="5184815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Hidden Layers: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512, 256, 128 neurons.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028224" y="562701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Output Layer: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10 neurons (for 10 fashion classes).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28224" y="6069211"/>
            <a:ext cx="5939076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Activation: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F.softplus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used for non-linearity.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28224" y="6519029"/>
            <a:ext cx="593907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Regularization: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BatchNorm1d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Dropout(0.4)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applied.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3039547"/>
            <a:ext cx="6408063" cy="5551289"/>
          </a:xfrm>
          <a:prstGeom prst="roundRect">
            <a:avLst>
              <a:gd name="adj" fmla="val 367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982" y="3273981"/>
            <a:ext cx="680442" cy="680442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3461028"/>
            <a:ext cx="306110" cy="3061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62982" y="4181237"/>
            <a:ext cx="467487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FashionCNN: Feature Maps</a:t>
            </a:r>
            <a:endParaRPr lang="en-US" sz="2650" dirty="0"/>
          </a:p>
        </p:txBody>
      </p:sp>
      <p:sp>
        <p:nvSpPr>
          <p:cNvPr id="17" name="Text 11"/>
          <p:cNvSpPr/>
          <p:nvPr/>
        </p:nvSpPr>
        <p:spPr>
          <a:xfrm>
            <a:off x="7662982" y="474261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Input Layer: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1x28x28 image.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662982" y="5184815"/>
            <a:ext cx="593919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Convolutional Layers: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Two blocks with 32 and 64 feature maps, followed by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MaxPool2d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662982" y="5997535"/>
            <a:ext cx="593919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Fully Connected Layers: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Flattens feature maps to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64*14*14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then to final 10 classes.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7662982" y="6810256"/>
            <a:ext cx="593919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Feature Extraction: Flattens feature maps to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64*14*14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662982" y="7622977"/>
            <a:ext cx="593919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Regularization: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BatchNorm2d/1d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Dropout(0.3)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used across layers.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93790" y="8845987"/>
            <a:ext cx="130428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</a:t>
            </a:r>
            <a:r>
              <a:rPr lang="en-US" sz="17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function standardized the training loop for both models, ensuring fair comparison over 15 epochs. It utilized the </a:t>
            </a: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Adam optimizer with a learning rate of 0.001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and a </a:t>
            </a: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StepLR scheduler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for effective learning rate decay.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569833"/>
            <a:ext cx="6146363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Results: Performance Metrics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5329" y="1502331"/>
            <a:ext cx="13179743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CNN model significantly outperformed the ANN model, demonstrating the superior capability of convolutions for spatial data recognition.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874" y="2631758"/>
            <a:ext cx="5646539" cy="37064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443" y="2631758"/>
            <a:ext cx="3753803" cy="37538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5329" y="6851809"/>
            <a:ext cx="13179743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CNN achieved a final test accuracy of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88.49%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exceeding the ANN’s </a:t>
            </a: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83.81%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by nearly five percentage points.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177897" y="8258413"/>
            <a:ext cx="155495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91.85%</a:t>
            </a:r>
            <a:endParaRPr lang="en-US" sz="2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281" y="7468314"/>
            <a:ext cx="1896308" cy="18963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660213" y="9623584"/>
            <a:ext cx="25905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CNN Test Accuracy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25329" y="10071735"/>
            <a:ext cx="6460331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Significantly higher classification success rate.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897308" y="8258413"/>
            <a:ext cx="155495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87.12%</a:t>
            </a:r>
            <a:endParaRPr lang="en-US" sz="2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6692" y="7468314"/>
            <a:ext cx="1896308" cy="18963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79506" y="9623584"/>
            <a:ext cx="259056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ANN Test Accuracy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444621" y="10071735"/>
            <a:ext cx="6460450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Solid performance, but lacks feature detection capability.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5B59A6-7D0D-EA28-585F-6A3AC927ED34}"/>
              </a:ext>
            </a:extLst>
          </p:cNvPr>
          <p:cNvSpPr txBox="1"/>
          <p:nvPr/>
        </p:nvSpPr>
        <p:spPr>
          <a:xfrm>
            <a:off x="3364669" y="8154799"/>
            <a:ext cx="133167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D3E44"/>
                </a:solidFill>
                <a:latin typeface="+mj-lt"/>
                <a:ea typeface="Inter Light" pitchFamily="34" charset="-122"/>
                <a:cs typeface="Inter Light" pitchFamily="34" charset="-120"/>
              </a:rPr>
              <a:t>88.49%</a:t>
            </a:r>
            <a:endParaRPr lang="en-IN" sz="28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A31488-5E8B-841D-C34C-22E4F1714AC3}"/>
              </a:ext>
            </a:extLst>
          </p:cNvPr>
          <p:cNvSpPr txBox="1"/>
          <p:nvPr/>
        </p:nvSpPr>
        <p:spPr>
          <a:xfrm>
            <a:off x="10040119" y="8154799"/>
            <a:ext cx="126933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3D3E44"/>
                </a:solidFill>
                <a:latin typeface="+mj-lt"/>
                <a:ea typeface="Inter Light" pitchFamily="34" charset="-122"/>
                <a:cs typeface="Inter Light" pitchFamily="34" charset="-120"/>
              </a:rPr>
              <a:t>83.81%</a:t>
            </a:r>
            <a:endParaRPr lang="en-IN" sz="28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6412"/>
            <a:ext cx="526351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Discussion: Key insight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7470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performance disparity highlights the inherent advantage of CNNs in extracting hierarchical, translation-invariant features from images.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727972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578435"/>
            <a:ext cx="32363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CNN: Spatial Hierarchy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068854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Convolutional layers learn local patterns (edges, textures) in early layers, which are combined into complex object parts in deeper layers. This efficient representation is key to its high accuracy.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4727972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5578435"/>
            <a:ext cx="34188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ANN: Pixel Dependency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6068854"/>
            <a:ext cx="4158615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ANN treats each pixel as an independent feature. The model struggles with the high dimensionality and fails to capture spatial correlations critical for recognizing clothing items.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4727972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5578435"/>
            <a:ext cx="2947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Misclassification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6068854"/>
            <a:ext cx="4158615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Both models struggle with ambiguous classes like 'Shirt', 'T-shirt/top', and 'Pullover', suggesting visual similarity and need for deeper semantic understanding.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4447"/>
            <a:ext cx="869430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Conclusion: The Power of Convolution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26505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comparative study demonstrated that even for a relatively simple dataset like FashionMNIST, the architectural choice has a profound impact on classification performance.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133951" y="5153263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3F51B5">
              <a:alpha val="50000"/>
            </a:srgbClr>
          </a:solidFill>
          <a:ln w="7620">
            <a:solidFill>
              <a:srgbClr val="586A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3790" y="4926390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3F51B5">
              <a:alpha val="50000"/>
            </a:srgbClr>
          </a:solidFill>
          <a:ln w="7620">
            <a:solidFill>
              <a:srgbClr val="586AC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930" y="5096530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5833705"/>
            <a:ext cx="3388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CNN Superiority Proven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6324124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CNN model achieved significantly better results, confirming its suitability for computer vision tasks by leveraging convolutional filters for superior feature extraction.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57123" y="4812983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3F51B5">
              <a:alpha val="50000"/>
            </a:srgbClr>
          </a:solidFill>
          <a:ln w="7620">
            <a:solidFill>
              <a:srgbClr val="586A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6962" y="4586109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3F51B5">
              <a:alpha val="50000"/>
            </a:srgbClr>
          </a:solidFill>
          <a:ln w="7620">
            <a:solidFill>
              <a:srgbClr val="586AC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7102" y="4756249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5493425"/>
            <a:ext cx="34570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Robust Training Verified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983843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consistent improvement in validation accuracy across both models validates the effectiveness of the chosen optimization techniques (Batch Norm, Xavier Init, Augmentation).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980295" y="4472821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3F51B5">
              <a:alpha val="50000"/>
            </a:srgbClr>
          </a:solidFill>
          <a:ln w="7620">
            <a:solidFill>
              <a:srgbClr val="586AC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40133" y="4245947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3F51B5">
              <a:alpha val="50000"/>
            </a:srgbClr>
          </a:solidFill>
          <a:ln w="7620">
            <a:solidFill>
              <a:srgbClr val="586AC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0274" y="4416088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5153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Lesson Learned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5643682"/>
            <a:ext cx="3742730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 any task involving spatial data (images), prioritizing a Convolutional architecture over a fully connected one is crucial for achieving state-of-the-art results.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4426029"/>
            <a:ext cx="7954425" cy="21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10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Thank You</a:t>
            </a:r>
            <a:endParaRPr lang="en-US" sz="10000" dirty="0"/>
          </a:p>
        </p:txBody>
      </p:sp>
      <p:sp>
        <p:nvSpPr>
          <p:cNvPr id="4" name="Text 1"/>
          <p:cNvSpPr/>
          <p:nvPr/>
        </p:nvSpPr>
        <p:spPr>
          <a:xfrm>
            <a:off x="6280190" y="61838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868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Light</vt:lpstr>
      <vt:lpstr>Consolas</vt:lpstr>
      <vt:lpstr>Montserrat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Aarya Prajapati</cp:lastModifiedBy>
  <cp:revision>5</cp:revision>
  <dcterms:created xsi:type="dcterms:W3CDTF">2025-10-31T17:51:35Z</dcterms:created>
  <dcterms:modified xsi:type="dcterms:W3CDTF">2025-11-04T14:35:41Z</dcterms:modified>
</cp:coreProperties>
</file>